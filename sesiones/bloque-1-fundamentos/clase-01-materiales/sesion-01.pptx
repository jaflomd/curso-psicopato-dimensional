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1A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PSICOPATOLOGÍA DIMENSIONAL — SESIÓN 01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DDDAD5"/>
                </a:solidFill>
                <a:latin typeface="Georgia"/>
              </a:defRPr>
            </a:pPr>
            <a:r>
              <a:t>De categorías</a:t>
            </a:r>
            <a:br/>
            <a:r>
              <a:t>a dimensiones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Por qué el DSM no alcanza, hacia dónde va el DSM-6, y cómo el HiTOP reorganiza la psicopatología.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Javier Flores · R1 Psiquiatría ·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 i="0">
                <a:solidFill>
                  <a:srgbClr val="C8503C"/>
                </a:solidFill>
                <a:latin typeface="Georgia"/>
              </a:defRPr>
            </a:pPr>
            <a:r>
              <a:t>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combinaciones de síntomas para TDM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DDDAD5"/>
                </a:solidFill>
                <a:latin typeface="Georgia"/>
              </a:defRPr>
            </a:pPr>
            <a:r>
              <a:t>¿Cuántas combinaciones de síntomas pueden dar un diagnóstico de</a:t>
            </a:r>
            <a:br/>
            <a:r>
              <a:t>Trastorno Depresivo Mayor?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0" b="1" i="0">
                <a:solidFill>
                  <a:srgbClr val="C8503C"/>
                </a:solidFill>
                <a:latin typeface="Georgia"/>
              </a:defRPr>
            </a:pPr>
            <a:r>
              <a:t>227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DDDAD5"/>
                </a:solidFill>
                <a:latin typeface="Georgia"/>
              </a:defRPr>
            </a:pPr>
            <a:r>
              <a:t>Dos pacientes con el mismo diagnóstico pueden no compartir ni un solo síntoma.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320040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9 criterios, ≥5 requeridos, al menos 1 de los 2 primeros. Resultado: 227 perfiles distintos bajo una sola etiqueta.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560320"/>
            <a:ext cx="38100" cy="13716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DDDAD5"/>
                </a:solidFill>
                <a:latin typeface="Georgia"/>
              </a:defRPr>
            </a:pPr>
            <a:r>
              <a:t>Si dos pacientes con TDM pueden ser tan distintos... ¿qué tan útil es la etiqueta que comparten?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74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0" b="1" i="0">
                <a:solidFill>
                  <a:srgbClr val="251A17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DDDAD5"/>
                </a:solidFill>
                <a:latin typeface="Georgia"/>
              </a:defRPr>
            </a:pPr>
            <a:r>
              <a:t>5 razones por las que el DSM no alcanza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Identificar ≥4 limitaciones del modelo categórico DSM-5-TR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La comorbilidad es la regla, no la excepción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MDD + GAD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5146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514600"/>
            <a:ext cx="2240280" cy="2286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60-70%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MDD + Ansiedad Social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9718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971800"/>
            <a:ext cx="1216152" cy="228600"/>
          </a:xfrm>
          <a:prstGeom prst="rect">
            <a:avLst/>
          </a:prstGeom>
          <a:solidFill>
            <a:srgbClr val="B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MDD + PTSD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4290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3429000"/>
            <a:ext cx="1024128" cy="228600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MDD + Sustancias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8862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3886200"/>
            <a:ext cx="800100" cy="228600"/>
          </a:xfrm>
          <a:prstGeom prst="rect">
            <a:avLst/>
          </a:prstGeom>
          <a:solidFill>
            <a:srgbClr val="8A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~25%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Krueger &amp; Eaton, 2015 · World Psychiatry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18288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DDDAD5"/>
                </a:solidFill>
                <a:latin typeface="Georgia"/>
              </a:defRPr>
            </a:pPr>
            <a:r>
              <a:t>La comorbilidad no es que el paciente tenga dos enfermedades.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0" y="292608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C8503C"/>
                </a:solidFill>
                <a:latin typeface="Georgia"/>
              </a:defRPr>
            </a:pPr>
            <a:r>
              <a:t>Es que los límites entre categorías son artificiales.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3891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Como un mapa político con fronteras rectas dibujadas sobre un terreno continuo de montañas y valles.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Mismo diagnóstico, distintos pacientes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Paciente A — TDM (F32.1)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Insomnio · Agitación · Culpa excesiva · Concentración↓ · Peso↓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Paciente B — TDM (F32.1)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Hipersomnia · Retardo psicomotor · Vacío · Fatiga · Peso↑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DDAD5"/>
                </a:solidFill>
                <a:latin typeface="Calibri"/>
              </a:defRPr>
            </a:pPr>
            <a:r>
              <a:t>Comparten: la etiqueta. Nada más.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Allsopp et al., 2019 · Psychiatry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DATO DURO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Las dimensiones son ~2x más confiables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Esquizofrenia (DSM)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5146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514600"/>
            <a:ext cx="1472184" cy="228600"/>
          </a:xfrm>
          <a:prstGeom prst="rect">
            <a:avLst/>
          </a:prstGeom>
          <a:solidFill>
            <a:srgbClr val="5A5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κ 0.46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Psicoticismo (HiTOP)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9718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971800"/>
            <a:ext cx="2592324" cy="2286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ICC 0.81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Desapego (HiTOP)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42900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3429000"/>
            <a:ext cx="2720340" cy="228600"/>
          </a:xfrm>
          <a:prstGeom prst="rect">
            <a:avLst/>
          </a:prstGeom>
          <a:solidFill>
            <a:srgbClr val="5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ICC 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Kotov et al., 2024 · Molecular Psychiatry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0">
                <a:solidFill>
                  <a:srgbClr val="DDDAD5"/>
                </a:solidFill>
                <a:latin typeface="Georgia"/>
              </a:defRPr>
            </a:pPr>
            <a:r>
              <a:t>¿Por qué 5 de 9 y no 4?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338328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¿Por qué 2 semanas y no 10 días? Los umbrales se decidieron por consenso de expertos, no por evidencia de discontinuidad natural.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8463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Kendell &amp; Jablensky, 2003 · Am J Psychiatry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1828800"/>
            <a:ext cx="38100" cy="18288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17520" y="18288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DDDAD5"/>
                </a:solidFill>
                <a:latin typeface="Georgia"/>
              </a:defRPr>
            </a:pPr>
            <a:r>
              <a:t>Patients are distributed smoothly from low to high on all dimensions without leaving clear gaps between clusters of 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— Öngür et al., 2026 · Am J Psychiatry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La esperanza de encontrar categorías naturales — "carving nature at its joints" — no se ha cumplido en psiquiatría.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Bajo el umbral hay sufrimiento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4 de 9 síntomas × 13 días = "no tiene depresión" según el DSM.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El DSM-5 introdujo medidas dimensionales de severidad en Sección III. Son opcionales. Casi nadie las 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Narrow et al., 2011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SOBRE EL UMBRAL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Cumple criterios DSM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743200"/>
            <a:ext cx="3657600" cy="127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5A5850"/>
                </a:solidFill>
                <a:latin typeface="Calibri"/>
              </a:defRPr>
            </a:pPr>
            <a:r>
              <a:t>BAJO EL UMBRAL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Sufrimiento subumbral</a:t>
            </a:r>
            <a:br/>
            <a:r>
              <a:t>Disfunción</a:t>
            </a:r>
            <a:br/>
            <a:r>
              <a:t>Riesgo de progresión</a:t>
            </a:r>
            <a:br/>
            <a:r>
              <a:t>Necesita intervención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 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8100" cy="13716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DDDAD5"/>
                </a:solidFill>
                <a:latin typeface="Georgia"/>
              </a:defRPr>
            </a:pPr>
            <a:r>
              <a:t>La reificación de categorías DSM ha encerrado a la investigación psiquiátrica en una prisión epistémica.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— Steven Hyman, 2010 · Annu Rev Clin Psychol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Los diagnósticos tienen utilidad (comunican) pero no validez (no son entidades naturales).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Jablensky, 2016 · Waszczuk et al., 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RESUMEN LO1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5 limitaciones del modelo categórico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LIMITACIÓN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EN UNA FRASE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8229600" cy="12700"/>
          </a:xfrm>
          <a:prstGeom prst="rect">
            <a:avLst/>
          </a:prstGeom>
          <a:solidFill>
            <a:srgbClr val="35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Comorbilidad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Las fronteras entre diagnósticos son inventadas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Heterogeneidad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Mismo diagnóstico, distintos pacientes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Cortes arbitrarios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¿Por qué 5 de 9 y no 4?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Info subumbral perdida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Bajo el umbral hay sufrimiento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Baja validez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Útil para comunicar, no para explicar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74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0" b="1" i="0">
                <a:solidFill>
                  <a:srgbClr val="251A17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DDDAD5"/>
                </a:solidFill>
                <a:latin typeface="Georgia"/>
              </a:defRPr>
            </a:pPr>
            <a:r>
              <a:t>El DSM ya está cambiando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Identificar ≥2 propuestas concretas del proceso DSM-6 que incorporan pensamiento dimensional.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45 AÑOS DEL MISMO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1645920" cy="82296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DSM-III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1980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5A58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828800"/>
            <a:ext cx="1645920" cy="82296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DSM-IV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1994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5A58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828800"/>
            <a:ext cx="1645920" cy="82296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DSM-5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2013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5A58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828800"/>
            <a:ext cx="1645920" cy="82296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DSM-5-TR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C850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828800"/>
            <a:ext cx="1645920" cy="82296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Future DSM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en 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2024: APA nombra Future DSM Strategic Committee</a:t>
            </a:r>
            <a:br/>
            <a:r>
              <a:t>2026: Structure &amp; Dimensions Subcommittee publica propuesta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Oquendo et al., 2026 · Öngür et al., 2026 · Am J Psychiatry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EL NUEVO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Diagnostic Construction Model — 4 dominios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55448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19202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1. FACTORES CONTEXTUALES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• Determinantes socioeconómicos</a:t>
            </a:r>
            <a:br/>
            <a:r>
              <a:t>• Desarrollo</a:t>
            </a:r>
            <a:br/>
            <a:r>
              <a:t>• Comorbilidad médica</a:t>
            </a:r>
            <a:br/>
            <a:r>
              <a:t>• Calidad de vida (auto-reporte)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011680"/>
            <a:ext cx="5029200" cy="19202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2. BIOMARCADORES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• Neuroimagen, genética</a:t>
            </a:r>
            <a:br/>
            <a:r>
              <a:t>• Metabolómica, cognición</a:t>
            </a:r>
            <a:br/>
            <a:r>
              <a:t>• Fenotipos digitales</a:t>
            </a:r>
            <a:br/>
            <a:r>
              <a:t>• Primera vez en el DSM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029200" cy="19202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3. DIAGNÓSTICO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• Categoría mayor (ej: "psicosis")</a:t>
            </a:r>
            <a:br/>
            <a:r>
              <a:t>• Dx específico + especificadores</a:t>
            </a:r>
            <a:br/>
            <a:r>
              <a:t>• Severidad independiente</a:t>
            </a:r>
            <a:br/>
            <a:r>
              <a:t>• Código CIE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029200" cy="19202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348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4. FEATURES TRANSDIAGNÓSTICAS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• Ansiedad</a:t>
            </a:r>
            <a:br/>
            <a:r>
              <a:t>• Dificultades cognitivas</a:t>
            </a:r>
            <a:br/>
            <a:r>
              <a:t>• Alteraciones del sueño</a:t>
            </a:r>
            <a:br/>
            <a:r>
              <a:t>• Trascienden categorías Dx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400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Öngür et al., 2026, Figure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PROPUESTA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Especificidad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645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Categoría mayor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"Psicosis" — cuando la información es insuficiente. Evaluación de emergencia, primer contacto.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1645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A9A6A"/>
                </a:solidFill>
                <a:latin typeface="Georgia"/>
              </a:defRPr>
            </a:pPr>
            <a:r>
              <a:t>Diagnóstico específico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"Esquizofrenia" — cuando hay certeza. Seguimiento longitudinal, evaluación completa.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Ya no se fuerza a elegir entre un diagnóstico específico o "no especificado".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PROPUESTA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Severidad como dimensión independiente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645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Paciente A: Esquizofrenia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Severidad leve → Antipsicótico dosis baja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017520"/>
            <a:ext cx="4114800" cy="18288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1005840" cy="182880"/>
          </a:xfrm>
          <a:prstGeom prst="rect">
            <a:avLst/>
          </a:prstGeom>
          <a:solidFill>
            <a:srgbClr val="5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468880"/>
            <a:ext cx="5029200" cy="1645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Paciente B: Esquizofrenia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Severidad severa → Clozapina + rehabilitación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017520"/>
            <a:ext cx="4114800" cy="18288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017520"/>
            <a:ext cx="3703320" cy="18288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La severidad deja de ser un especificador opcional — se convierte en parámetro obligatorio.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PROPUESTA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Features transdiagnósticas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265176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3108960"/>
            <a:ext cx="2011680" cy="54864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Ansiedad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A5850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108960"/>
            <a:ext cx="2560320" cy="54864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518"/>
                </a:solidFill>
                <a:latin typeface="Calibri"/>
              </a:defRPr>
            </a:pPr>
            <a:r>
              <a:t>Diagnóstico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A58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108960"/>
            <a:ext cx="2011680" cy="54864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Dificultades cognitivas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114800"/>
            <a:ext cx="2011680" cy="54864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Alteraciones del sueño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114800"/>
            <a:ext cx="2011680" cy="54864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Dolor crónico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Dimensiones que cruzan diagnósticos se documentan formalmente por primera vez.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PROPUESTA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El DSM deja de ser un libro estático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8288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Antes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📖</a:t>
            </a:r>
            <a:br/>
            <a:r>
              <a:t>Publicación cada 15-20 años.</a:t>
            </a:r>
            <a:br/>
            <a:r>
              <a:t>Cambio = revolución.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18288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Futuro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💻</a:t>
            </a:r>
            <a:br/>
            <a:r>
              <a:t>Actualización continua.</a:t>
            </a:r>
            <a:br/>
            <a:r>
              <a:t>Digital = siempre actual. Print = periódico.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Lo que aprenden hoy será el lenguaje estándar cuando sean psiquiatras senior.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0" y="365760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9319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Las categorías no desaparecen. Se complementan con dimensiones.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74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0" b="1" i="0">
                <a:solidFill>
                  <a:srgbClr val="251A17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DDDAD5"/>
                </a:solidFill>
                <a:latin typeface="Georgia"/>
              </a:defRPr>
            </a:pPr>
            <a:r>
              <a:t>HiTOP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Hierarchical Taxonomy of Psychopathology — el mapa dimensional construido empíricamente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Kotov et al., 2017, 2021 · &gt;100 investigadores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EL FACTOR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DDDAD5"/>
                </a:solidFill>
                <a:latin typeface="Georgia"/>
              </a:defRPr>
            </a:pPr>
            <a:r>
              <a:t>¿Qué tienen en común todos los trastornos mentales?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Estudio Dunedin (Caspi et al., 2014)</a:t>
            </a:r>
            <a:br/>
            <a:r>
              <a:t>N = 1,037 · Seguimiento: 3 → 38 años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El modelo bifactorial con factor p general fue superior al modelo de factores separados.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Caspi et al., 2014 · Clin Psychol Sci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Internalizing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A5850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377440"/>
            <a:ext cx="1463040" cy="914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41518"/>
                </a:solidFill>
                <a:latin typeface="Georgia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Externalizing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Thought Disorder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EL FACTOR P PREDICE LO QUE MÁS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Un solo factor, múltiples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0058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Intentos de suicidio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Predicho por p en análisis longitudinal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10058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Hospitalizaciones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Mayor p = mayor uso de servicios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029200" cy="10058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8963C"/>
                </a:solidFill>
                <a:latin typeface="Georgia"/>
              </a:defRPr>
            </a:pPr>
            <a:r>
              <a:t>Heredabilidad 64-73%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Alta carga genética desde los 3 años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840480"/>
            <a:ext cx="5029200" cy="100584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7FB5"/>
                </a:solidFill>
                <a:latin typeface="Georgia"/>
              </a:defRPr>
            </a:pPr>
            <a:r>
              <a:t>CI + autocontrol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Asociación inversa con ambos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DDAD5"/>
                </a:solidFill>
                <a:latin typeface="Georgia"/>
              </a:defRPr>
            </a:pPr>
            <a:r>
              <a:t>El factor p es a la psicopatología lo que el factor g es a la inteligencia.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Caspi, 2014 · Avinun, 2021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EVIDENCIA GENÓMICA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Los genes no leen el DSM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18288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Davis, 2025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gSEM + GWAS de 16 rasgos. INT y EXT comparten 92-97% de varianza genética. DRD2 como receptor clave.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18288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Ehteshami, 2025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N = 127,963 (EHR). 6 factores bajo un p-factor: neurodesarrollo, externalizante, sustancias, thought disorder, distress, miedo.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LA JERARQUÍA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6 niveles: de síntomas a factor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55448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24247" y="2011680"/>
            <a:ext cx="2743200" cy="502920"/>
          </a:xfrm>
          <a:prstGeom prst="rect">
            <a:avLst/>
          </a:prstGeom>
          <a:solidFill>
            <a:srgbClr val="281C1A"/>
          </a:solidFill>
          <a:ln w="6350">
            <a:solidFill>
              <a:srgbClr val="C8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07127" y="20574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8503C"/>
                </a:solidFill>
                <a:latin typeface="Calibri"/>
              </a:defRPr>
            </a:pPr>
            <a:r>
              <a:t>6   Factor 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2651760"/>
            <a:ext cx="3657600" cy="502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9927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5   Superespectros  —  Disf. Emocional, Psicosis, Externalizing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1247" y="3291840"/>
            <a:ext cx="5029200" cy="502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4127" y="33375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4   Espectros (6)  —  INT, SOM, TD, DET, DIS, 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5447" y="3931920"/>
            <a:ext cx="6400800" cy="502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8327" y="39776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3   Subfactores  —  Fear, Distress, Mania...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647" y="4572000"/>
            <a:ext cx="7772400" cy="502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2527" y="461772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2   Síndromes  —  Pánico, Dep. vegetativa, Manía...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5247" y="5212080"/>
            <a:ext cx="9601200" cy="50292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8127" y="52578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1   Síntomas / Rasgos  —  Insomnio, labilidad, rumiación...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6035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Kotov et al., 2021 · Annu Rev Clin Psychol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LOS 6 ESPECTROS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HiTOP: espectros y síndromes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ESPECTRO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SÍNDROMES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TRASTORNOS DSM AFINES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515600" cy="12700"/>
          </a:xfrm>
          <a:prstGeom prst="rect">
            <a:avLst/>
          </a:prstGeom>
          <a:solidFill>
            <a:srgbClr val="35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4A7FB5"/>
                </a:solidFill>
                <a:latin typeface="Calibri"/>
              </a:defRPr>
            </a:pPr>
            <a:r>
              <a:t>Internalizing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Distress, Fear, Eating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MDD, GAD, PTSD, Fobias, TCA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9A6A"/>
                </a:solidFill>
                <a:latin typeface="Calibri"/>
              </a:defRPr>
            </a:pPr>
            <a:r>
              <a:t>Somatoform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Conversivo, Somatización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T. conversivo, T. somatización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A6AB5"/>
                </a:solidFill>
                <a:latin typeface="Calibri"/>
              </a:defRPr>
            </a:pPr>
            <a:r>
              <a:t>Thought Disorder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Psicosis, Manía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Esquizofrenia, Bipolar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A5850"/>
                </a:solidFill>
                <a:latin typeface="Calibri"/>
              </a:defRPr>
            </a:pPr>
            <a:r>
              <a:t>Detachment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Esquizoide, Evitativo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T. esquizoide, T. evitativo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8963C"/>
                </a:solidFill>
                <a:latin typeface="Calibri"/>
              </a:defRPr>
            </a:pPr>
            <a:r>
              <a:t>Disinhibited 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Sustancias, TDAH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TUS, TDAH, T. conducta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8503C"/>
                </a:solidFill>
                <a:latin typeface="Calibri"/>
              </a:defRPr>
            </a:pPr>
            <a:r>
              <a:t>Antagonistic 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Antisocial, Narcisista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TASP, T. narcisista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LA COMPARACIÓN DIRECTA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DSM vs HiTOP: los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DDAD5"/>
                </a:solidFill>
                <a:latin typeface="Calibri"/>
              </a:defRPr>
            </a:pPr>
            <a:r>
              <a:t>Confiabilidad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DSM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78892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2788920"/>
            <a:ext cx="1280160" cy="228600"/>
          </a:xfrm>
          <a:prstGeom prst="rect">
            <a:avLst/>
          </a:prstGeom>
          <a:solidFill>
            <a:srgbClr val="5A5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HiTOP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24612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3246120"/>
            <a:ext cx="2560320" cy="2286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~2x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DDAD5"/>
                </a:solidFill>
                <a:latin typeface="Calibri"/>
              </a:defRPr>
            </a:pPr>
            <a:r>
              <a:t>Poder explicativo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DSM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425196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4251960"/>
            <a:ext cx="1120140" cy="228600"/>
          </a:xfrm>
          <a:prstGeom prst="rect">
            <a:avLst/>
          </a:prstGeom>
          <a:solidFill>
            <a:srgbClr val="5A5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8A8780"/>
                </a:solidFill>
                <a:latin typeface="Calibri"/>
              </a:defRPr>
            </a:pPr>
            <a:r>
              <a:t>HiTOP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709160"/>
            <a:ext cx="3200400" cy="228600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4709160"/>
            <a:ext cx="2400300" cy="228600"/>
          </a:xfrm>
          <a:prstGeom prst="rect">
            <a:avLst/>
          </a:prstGeom>
          <a:solidFill>
            <a:srgbClr val="5A9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~2x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A5850"/>
                </a:solidFill>
                <a:latin typeface="Calibri"/>
              </a:defRPr>
            </a:pPr>
            <a:r>
              <a:t>Kotov et al., 2024 · Kotov et al., 2021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EJERCICIO GRUPAL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¿Dónde van en HiTOP?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TRASTORNO DSM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→ ESPECTRO HiTOP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8229600" cy="12700"/>
          </a:xfrm>
          <a:prstGeom prst="rect">
            <a:avLst/>
          </a:prstGeom>
          <a:solidFill>
            <a:srgbClr val="35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Trastorno de pánico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TDM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Esquizofrenia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5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T. por uso de sustancias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6575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T. antisocial de personalidad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233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DDDAD5"/>
                </a:solidFill>
                <a:latin typeface="Calibri"/>
              </a:defRPr>
            </a:pPr>
            <a:r>
              <a:t>PTSD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503C"/>
                </a:solidFill>
                <a:latin typeface="Calibri"/>
              </a:defRPr>
            </a:pPr>
            <a:r>
              <a:t>⚡ T. bipolar (manía)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503C"/>
                </a:solidFill>
                <a:latin typeface="Calibri"/>
              </a:defRPr>
            </a:pPr>
            <a:r>
              <a:t>⚡ OCD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850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A8780"/>
                </a:solidFill>
                <a:latin typeface="Calibri"/>
              </a:defRPr>
            </a:pPr>
            <a:r>
              <a:t>Los ⚡ son deliberadamente ambiguos — cruzan espectros.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274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0" b="1" i="0">
                <a:solidFill>
                  <a:srgbClr val="251A17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LO4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DDDAD5"/>
                </a:solidFill>
                <a:latin typeface="Georgia"/>
              </a:defRPr>
            </a:pPr>
            <a:r>
              <a:t>María, 28 años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A8780"/>
                </a:solidFill>
                <a:latin typeface="Calibri"/>
              </a:defRPr>
            </a:pPr>
            <a:r>
              <a:t>Formulación categórica vs dimensional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María, 28 años, diseñadora gráfica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029200" cy="201168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Cuadro actual (3 meses)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Ánimo deprimido · Insomnio severo (3-4h) · Anhedonia marcada · Ansiedad social intensa · Rumiación constante · Atracones 2-3x/sem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029200" cy="201168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6060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Historia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"Siempre ansiosa desde chica" · Bullying severo × 3 años · Padre: alcoholismo · Madre: depresión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C8503C"/>
                </a:solidFill>
                <a:latin typeface="Calibri"/>
              </a:defRPr>
            </a:pPr>
            <a:r>
              <a:t>"Ya no puedo más, todo me sale mal"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FORMULACIÓN CATEGÓRICA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El DSM dice...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DDAD5"/>
                </a:solidFill>
                <a:latin typeface="Calibri"/>
              </a:defRPr>
            </a:pPr>
            <a:r>
              <a:t>1. F32.1 — TDM, episodio único, moderado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DDAD5"/>
                </a:solidFill>
                <a:latin typeface="Calibri"/>
              </a:defRPr>
            </a:pPr>
            <a:r>
              <a:t>2. F40.10 — Trastorno de ansiedad social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DDDAD5"/>
                </a:solidFill>
                <a:latin typeface="Calibri"/>
              </a:defRPr>
            </a:pPr>
            <a:r>
              <a:t>3. F50.81 — Trastorno por atracón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A5850"/>
                </a:solidFill>
                <a:latin typeface="Calibri"/>
              </a:defRPr>
            </a:pPr>
            <a:r>
              <a:t>4. ¿F60.6 — T. personalidad evitativa? (diferir)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38100" cy="73152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DDAD5"/>
                </a:solidFill>
                <a:latin typeface="Georgia"/>
              </a:defRPr>
            </a:pPr>
            <a:r>
              <a:t>4 diagnósticos. ¿Cuál tratas primero? ¿Cuál es el mecanismo compartido?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457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FORMULACIÓN DIMENSIONAL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El modelo dimensional dice...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554480"/>
            <a:ext cx="91440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Distress (INT)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057400"/>
            <a:ext cx="4114800" cy="201168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2057400"/>
            <a:ext cx="3497580" cy="201168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Alto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Fear (INT)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468880"/>
            <a:ext cx="4114800" cy="201168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0" y="2468880"/>
            <a:ext cx="2674620" cy="201168"/>
          </a:xfrm>
          <a:prstGeom prst="rect">
            <a:avLst/>
          </a:prstGeom>
          <a:solidFill>
            <a:srgbClr val="B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Mod-alto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Eating (INT)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880360"/>
            <a:ext cx="4114800" cy="201168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2880360"/>
            <a:ext cx="1851660" cy="201168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Moderado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Detachment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291840"/>
            <a:ext cx="4114800" cy="201168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3291840"/>
            <a:ext cx="1645920" cy="201168"/>
          </a:xfrm>
          <a:prstGeom prst="rect">
            <a:avLst/>
          </a:prstGeom>
          <a:solidFill>
            <a:srgbClr val="8A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Moderado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Factor 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703320"/>
            <a:ext cx="4114800" cy="201168"/>
          </a:xfrm>
          <a:prstGeom prst="rect">
            <a:avLst/>
          </a:prstGeom>
          <a:solidFill>
            <a:srgbClr val="25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3703320"/>
            <a:ext cx="2880360" cy="201168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850"/>
                </a:solidFill>
                <a:latin typeface="Calibri"/>
              </a:defRPr>
            </a:pPr>
            <a:r>
              <a:t>Elevado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434840"/>
            <a:ext cx="1828800" cy="50292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434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Distress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A5850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434840"/>
            <a:ext cx="1828800" cy="50292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434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41518"/>
                </a:solidFill>
                <a:latin typeface="Calibri"/>
              </a:defRPr>
            </a:pPr>
            <a:r>
              <a:t>Rumiación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A58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4434840"/>
            <a:ext cx="1828800" cy="50292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434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Ansiedad social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A585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5349240"/>
            <a:ext cx="1828800" cy="457200"/>
          </a:xfrm>
          <a:prstGeom prst="rect">
            <a:avLst/>
          </a:prstGeom>
          <a:solidFill>
            <a:srgbClr val="1E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A8780"/>
                </a:solidFill>
                <a:latin typeface="Calibri"/>
              </a:defRPr>
            </a:pPr>
            <a:r>
              <a:t>Atracones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¿QUÉ CAMBIA?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Categórico vs Dimensional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CATEGÓRICO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DIMENSIONAL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515600" cy="12700"/>
          </a:xfrm>
          <a:prstGeom prst="rect">
            <a:avLst/>
          </a:prstGeom>
          <a:solidFill>
            <a:srgbClr val="35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Descripción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4 diagnósticos separados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9A6A"/>
                </a:solidFill>
                <a:latin typeface="Calibri"/>
              </a:defRPr>
            </a:pPr>
            <a:r>
              <a:t>1 perfil integrado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¿Cuál tratar primero?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9A6A"/>
                </a:solidFill>
                <a:latin typeface="Calibri"/>
              </a:defRPr>
            </a:pPr>
            <a:r>
              <a:t>Nodo central: rumiación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Tratamiento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TCC específica × cada Dx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9A6A"/>
                </a:solidFill>
                <a:latin typeface="Calibri"/>
              </a:defRPr>
            </a:pPr>
            <a:r>
              <a:t>Unified Protocol transdiagnóstico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Severidad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"Moderado" (¿en qué?)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9A6A"/>
                </a:solidFill>
                <a:latin typeface="Calibri"/>
              </a:defRPr>
            </a:pPr>
            <a:r>
              <a:t>Severidad por dimensión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DDAD5"/>
                </a:solidFill>
                <a:latin typeface="Calibri"/>
              </a:defRPr>
            </a:pPr>
            <a:r>
              <a:t>Comorbilidad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A8780"/>
                </a:solidFill>
                <a:latin typeface="Calibri"/>
              </a:defRPr>
            </a:pPr>
            <a:r>
              <a:t>"Caso difícil"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9A6A"/>
                </a:solidFill>
                <a:latin typeface="Calibri"/>
              </a:defRPr>
            </a:pPr>
            <a:r>
              <a:t>Información / perfil esperable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DDAD5"/>
                </a:solidFill>
                <a:latin typeface="Georgia"/>
              </a:defRPr>
            </a:pPr>
            <a:r>
              <a:t>El DSM te dice qué tiene el paciente.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DDDAD5"/>
                </a:solidFill>
                <a:latin typeface="Calibri"/>
              </a:defRPr>
            </a:pPr>
          </a:p>
          <a:p>
            <a:pPr algn="ctr">
              <a:spcBef>
                <a:spcPts val="1200"/>
              </a:spcBef>
              <a:spcAft>
                <a:spcPts val="600"/>
              </a:spcAft>
              <a:defRPr sz="2800" b="0" i="1">
                <a:solidFill>
                  <a:srgbClr val="C8503C"/>
                </a:solidFill>
                <a:latin typeface="Georgia"/>
              </a:defRPr>
            </a:pPr>
            <a:r>
              <a:t>El modelo dimensional te dice cómo está organizado su sufrimiento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DDDAD5"/>
                </a:solidFill>
                <a:latin typeface="Calibri"/>
              </a:defRPr>
            </a:pPr>
          </a:p>
          <a:p>
            <a:pPr algn="ctr">
              <a:spcBef>
                <a:spcPts val="1200"/>
              </a:spcBef>
              <a:spcAft>
                <a:spcPts val="600"/>
              </a:spcAft>
              <a:defRPr sz="2800" b="0" i="0">
                <a:solidFill>
                  <a:srgbClr val="DDDAD5"/>
                </a:solidFill>
                <a:latin typeface="Georgia"/>
              </a:defRPr>
            </a:pPr>
            <a:r>
              <a:t>— y eso cambia lo que haces con él.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503C"/>
                </a:solidFill>
                <a:latin typeface="Calibri"/>
              </a:defRPr>
            </a:pPr>
            <a:r>
              <a:t>SESIÓN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DDDAD5"/>
                </a:solidFill>
                <a:latin typeface="Georgia"/>
              </a:defRPr>
            </a:pPr>
            <a:r>
              <a:t>RDoC — El lenguaje operativo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48640" cy="25400"/>
          </a:xfrm>
          <a:prstGeom prst="rect">
            <a:avLst/>
          </a:prstGeom>
          <a:solidFill>
            <a:srgbClr val="C8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AD5"/>
                </a:solidFill>
                <a:latin typeface="Georgia"/>
              </a:defRPr>
            </a:pPr>
            <a:r>
              <a:t>Lectura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Clark LA, Cuthbert B, Lewis-Fernández R, Narrow WE, Reed GM. Three Approaches to Understanding and Classifying Mental Disorder: ICD-11, DSM-5, and RDoC. Psychol Sci Public Interest. 2017;18(2):72-145.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solidFill>
            <a:srgbClr val="1E2028"/>
          </a:solidFill>
          <a:ln w="635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503C"/>
                </a:solidFill>
                <a:latin typeface="Georgia"/>
              </a:defRPr>
            </a:pPr>
            <a:r>
              <a:t>Pregunta para pensar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100" b="0" i="0">
                <a:solidFill>
                  <a:srgbClr val="5A5850"/>
                </a:solidFill>
                <a:latin typeface="Calibri"/>
              </a:defRPr>
            </a:pPr>
            <a:r>
              <a:t>"Si pudieras medir UNA dimensión de cada paciente que ves esta semana, ¿cuál elegirías?"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